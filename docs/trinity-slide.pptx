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81" r:id="rId3"/>
    <p:sldId id="258" r:id="rId4"/>
    <p:sldId id="259" r:id="rId5"/>
    <p:sldId id="260" r:id="rId6"/>
    <p:sldId id="263" r:id="rId7"/>
    <p:sldId id="261" r:id="rId8"/>
    <p:sldId id="265" r:id="rId9"/>
    <p:sldId id="282" r:id="rId10"/>
    <p:sldId id="274" r:id="rId11"/>
    <p:sldId id="275" r:id="rId12"/>
    <p:sldId id="276" r:id="rId13"/>
    <p:sldId id="277" r:id="rId14"/>
    <p:sldId id="278" r:id="rId15"/>
    <p:sldId id="279" r:id="rId16"/>
    <p:sldId id="280" r:id="rId17"/>
  </p:sldIdLst>
  <p:sldSz cx="12192000" cy="6858000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BC"/>
    <a:srgbClr val="0973BA"/>
    <a:srgbClr val="F1FFC3"/>
    <a:srgbClr val="DCE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 varScale="1">
        <p:scale>
          <a:sx n="90" d="100"/>
          <a:sy n="90" d="100"/>
        </p:scale>
        <p:origin x="4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9A76E-15AD-462D-97F4-C0DC070DA2E9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8CB07-51D1-4A60-BFC7-ADB271D42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3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0FEC1-5AC1-6048-E599-37B6F6D4B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D5765-083A-4D5B-8CBF-8F06E6E31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BF7B7-D4D5-F401-90F1-6CFEA563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4D91-9CE4-47BC-90D1-448D355E7E52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42ACE-BBDC-2A64-8FF2-9E5E3F5E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07238-3776-DB43-A7D1-4C6DAF70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BD079DD-EC56-4EEA-9CB1-49CD033D5D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08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6C874-F726-B24A-5EE6-2F83E805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9C70-A9C7-33AC-127A-C8B7871F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C298F-49A7-B25A-DE67-1BAC5CEE5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78DF-B332-4327-906A-E88628D97765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C010-C6F1-3DD3-1D8C-F46F3DAB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8AA96-0821-C0F0-90CB-F33F90E8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D079DD-EC56-4EEA-9CB1-49CD033D5DA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9C860F-CF28-C23D-D85C-4A445CEC79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77"/>
            <a:ext cx="12192000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820DE32-E495-56FD-7FE0-7334E6F314DD}"/>
              </a:ext>
            </a:extLst>
          </p:cNvPr>
          <p:cNvGrpSpPr/>
          <p:nvPr userDrawn="1"/>
        </p:nvGrpSpPr>
        <p:grpSpPr>
          <a:xfrm>
            <a:off x="1" y="-63423"/>
            <a:ext cx="1759856" cy="1120064"/>
            <a:chOff x="36928" y="-94504"/>
            <a:chExt cx="2384673" cy="151773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F90E13E-5794-63A5-5607-4226589C9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0365" y="72394"/>
              <a:ext cx="1131236" cy="113123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DB60E2-EF70-8A26-659F-02F001BDC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928" y="-94504"/>
              <a:ext cx="1253437" cy="151773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B3F0ED-47D7-69C5-47D1-7BD85108CBCB}"/>
              </a:ext>
            </a:extLst>
          </p:cNvPr>
          <p:cNvGrpSpPr/>
          <p:nvPr userDrawn="1"/>
        </p:nvGrpSpPr>
        <p:grpSpPr>
          <a:xfrm>
            <a:off x="1759857" y="59745"/>
            <a:ext cx="5528726" cy="830935"/>
            <a:chOff x="1900035" y="9728"/>
            <a:chExt cx="5528726" cy="83093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B5A90F-244D-8E56-7804-5A74D17D957F}"/>
                </a:ext>
              </a:extLst>
            </p:cNvPr>
            <p:cNvSpPr txBox="1"/>
            <p:nvPr/>
          </p:nvSpPr>
          <p:spPr>
            <a:xfrm>
              <a:off x="1909359" y="9728"/>
              <a:ext cx="551940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400" i="0" u="none" strike="noStrike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Faculty of Advanced Education</a:t>
              </a:r>
              <a:endParaRPr lang="en-US" sz="1400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BFDC13D-98CB-795F-6001-08B7FA34EE24}"/>
                </a:ext>
              </a:extLst>
            </p:cNvPr>
            <p:cNvSpPr txBox="1"/>
            <p:nvPr/>
          </p:nvSpPr>
          <p:spPr>
            <a:xfrm>
              <a:off x="1900035" y="198567"/>
              <a:ext cx="55060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0072B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EDGE COMPUTING INNOVATION</a:t>
              </a:r>
              <a:endParaRPr lang="en-US" sz="2000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DE1B4B-742B-D372-081E-4B15E8BCBA0A}"/>
                </a:ext>
              </a:extLst>
            </p:cNvPr>
            <p:cNvSpPr txBox="1"/>
            <p:nvPr/>
          </p:nvSpPr>
          <p:spPr>
            <a:xfrm>
              <a:off x="1911366" y="532886"/>
              <a:ext cx="550606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sz="1400" i="0" u="none" strike="noStrike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HCMC University of Technology and Engineering</a:t>
              </a:r>
              <a:endParaRPr lang="en-US" sz="1400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DE4007-5311-5883-DEB8-F94B9C4D0176}"/>
                </a:ext>
              </a:extLst>
            </p:cNvPr>
            <p:cNvCxnSpPr>
              <a:cxnSpLocks/>
            </p:cNvCxnSpPr>
            <p:nvPr/>
          </p:nvCxnSpPr>
          <p:spPr>
            <a:xfrm>
              <a:off x="2023099" y="571409"/>
              <a:ext cx="4133861" cy="0"/>
            </a:xfrm>
            <a:prstGeom prst="line">
              <a:avLst/>
            </a:prstGeom>
            <a:ln w="19050">
              <a:solidFill>
                <a:srgbClr val="0072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253F0B8-74EB-23A8-98D2-6B183B9E6B1F}"/>
              </a:ext>
            </a:extLst>
          </p:cNvPr>
          <p:cNvSpPr txBox="1"/>
          <p:nvPr userDrawn="1"/>
        </p:nvSpPr>
        <p:spPr>
          <a:xfrm>
            <a:off x="-1" y="6581556"/>
            <a:ext cx="101507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0" u="none" strike="noStrike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TRINITY – REAL-TIME CONSTRUCTION SITE SAFETY MONITORING SYSTEM BASED ON EDGE COMPUTING AND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3257466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87A9-7396-70B1-E6CC-5EBA4B41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7BBF0-93A8-201B-64E0-86592119E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53762-C448-E227-23B6-9967B1BC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4EC0-091A-4D8B-8ABA-833EEF75C438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28B4-E1D0-9013-5E8A-76CF5D59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F824-6EB8-C512-C247-0F1AC936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0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B8F5-C458-1003-7A6E-C47EEBB7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8E73-37AA-3465-86F1-03ACC25D4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7A433-FC72-35A6-A197-B03242C6A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4438-78CF-D643-1D58-280FA157A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CF23E-F1EC-45AA-BB99-F7325D4BE0D4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DE0C6-C469-0245-CBB4-F483FFA4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0E437-95C0-7032-FB5E-40DBE664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7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FF4E-7FDA-BD5F-2194-A1089F10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E2016-23BB-4507-3A9A-B5D0B808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6AF90-387A-AF19-EB78-95B377692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1E9713-6B6B-19A0-9A5F-91EB11A1D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B06D2-25BB-7D55-A813-A2D5ECBD0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BEECD-ED2A-FE56-9D1E-055CA0D5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EF62-6D4B-482E-9BD2-C9AB8F33F39B}" type="datetime1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06B16-96EC-AF1D-2C80-401947134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F597C-B40C-0D4C-1170-7014873F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767D-63B0-7BBC-C994-A8104A46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E542D3-0855-4432-7860-B7DD04F2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30B2-EC66-4148-A824-C684E9AF8DC1}" type="datetime1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5B47A-A8A0-C272-4260-C70BF571C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7309-4FC0-0F1C-19AF-0203A1C8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68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0663F-A801-5140-62DD-4B3B5284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B4AD9-9ACB-4C1C-A9BA-EB2108B129F0}" type="datetime1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AE547-0AD7-E477-3145-41B17202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CC581-3704-6EB8-3CFE-20F0FB51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70E7-3E5A-C91F-AD1B-F0F0F20A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6B5F7-DFF5-ADC7-DD9E-038A438B1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34558-7497-6C18-358E-0BCF4299D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C6E722-5AF6-9243-5FE3-B07B823A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4289-6C8F-4DCF-9E9E-90B30442C62C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7D350-3A84-DBD7-B567-4E1819C9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74281-9A6B-3648-13E5-9CE5182D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2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E07F-5254-43C9-7179-453B26135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936BA7-F51F-483C-E3C4-570E4F3B3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45FAE-06B4-4784-F139-440684ECA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01DCC-E6CB-67CA-C432-D70E67C9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FB158-E8F5-47BB-A094-2759EE384449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8C00A-593B-265E-E6CE-07ECFE59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19D9C-E738-E1DF-8104-17C31B80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4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1C10-3676-8B27-A223-3919B8FD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FDBC7-5C90-EC5C-E8F6-63998F3F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640BA-5FB8-5963-8ECE-E45AF5E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49E46-2F5E-41A7-B7BF-1C9258F30635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838E-A738-699C-0A99-58746097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48FF9-EA27-B317-7B30-003F111BA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5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9D501-7C52-2230-6BCF-F27B18B0D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3F584-4EE4-D91D-85A1-3A0B9086B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6901C-3BA8-339F-AC95-C7905AF05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CC4FA-64A9-48C7-8AF8-9C028D452DE2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49337-E2F9-404D-BF98-F87D9EFDD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8A7DA-6767-6DD7-561A-D51B8D89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2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DA5AA-D2E4-2268-1790-329116F3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BB109-5024-B100-2A89-6A3979412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7A0ED-867A-934F-DC11-EC59B1BAC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196E6-C053-4777-A78E-1E433C1AE512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5E7CC-54E5-9AC8-655F-2F0E612C8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3E0D2-B316-DD2B-A3F4-7C7596F15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6436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BD079DD-EC56-4EEA-9CB1-49CD033D5D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8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3CC4201-8292-6CC2-02F1-EBB261C0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556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10E6D30-8973-5ACE-5151-3BE8DC7DB8FF}"/>
              </a:ext>
            </a:extLst>
          </p:cNvPr>
          <p:cNvSpPr txBox="1"/>
          <p:nvPr/>
        </p:nvSpPr>
        <p:spPr>
          <a:xfrm>
            <a:off x="412954" y="2824575"/>
            <a:ext cx="113660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32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REAL-TIME CONSTRUCTION SITE SAFETY MONITORING SYSTEM BASED ON EDGE COMPUTING AND COMPUTER VISION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A7F02F-E3F4-15A4-D0B5-B3CC4A9C6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03" t="1322" r="36015" b="30104"/>
          <a:stretch>
            <a:fillRect/>
          </a:stretch>
        </p:blipFill>
        <p:spPr>
          <a:xfrm>
            <a:off x="514031" y="351871"/>
            <a:ext cx="2081685" cy="22279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8056B7-ECA2-A351-4BFE-E83A32B2B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794" y="517539"/>
            <a:ext cx="1822004" cy="18220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63D922-B38B-64E4-372A-CDFDB00091C1}"/>
              </a:ext>
            </a:extLst>
          </p:cNvPr>
          <p:cNvSpPr txBox="1"/>
          <p:nvPr/>
        </p:nvSpPr>
        <p:spPr>
          <a:xfrm>
            <a:off x="604796" y="4715895"/>
            <a:ext cx="6096000" cy="17902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2400" i="1" u="none" strike="noStrike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1800" b="1" i="0" dirty="0"/>
              <a:t>Team members:</a:t>
            </a:r>
          </a:p>
          <a:p>
            <a:pPr algn="l">
              <a:lnSpc>
                <a:spcPct val="150000"/>
              </a:lnSpc>
            </a:pPr>
            <a:r>
              <a:rPr lang="en-US" sz="2000" b="1" i="0" dirty="0">
                <a:solidFill>
                  <a:srgbClr val="0072BC"/>
                </a:solidFill>
              </a:rPr>
              <a:t>&gt;</a:t>
            </a:r>
            <a:r>
              <a:rPr lang="en-US" sz="1800" i="0" dirty="0"/>
              <a:t> Nguyen Nhat Phat – 23110053</a:t>
            </a:r>
          </a:p>
          <a:p>
            <a:pPr algn="l">
              <a:lnSpc>
                <a:spcPct val="150000"/>
              </a:lnSpc>
            </a:pPr>
            <a:r>
              <a:rPr lang="en-US" sz="1800" b="1" i="0" dirty="0">
                <a:solidFill>
                  <a:srgbClr val="0072BC"/>
                </a:solidFill>
              </a:rPr>
              <a:t>&gt; </a:t>
            </a:r>
            <a:r>
              <a:rPr lang="en-US" sz="1800" i="0" dirty="0"/>
              <a:t>Tran Quoc Huy – 23110026 </a:t>
            </a:r>
          </a:p>
          <a:p>
            <a:pPr algn="l">
              <a:lnSpc>
                <a:spcPct val="150000"/>
              </a:lnSpc>
            </a:pPr>
            <a:r>
              <a:rPr lang="en-US" sz="1800" b="1" i="0" dirty="0">
                <a:solidFill>
                  <a:srgbClr val="0072BC"/>
                </a:solidFill>
              </a:rPr>
              <a:t>&gt; </a:t>
            </a:r>
            <a:r>
              <a:rPr lang="en-US" sz="1800" i="0" dirty="0"/>
              <a:t>Le Huu Truc – 23110068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4EF03-10C7-8B47-2949-E2F1ACED7FEF}"/>
              </a:ext>
            </a:extLst>
          </p:cNvPr>
          <p:cNvSpPr txBox="1"/>
          <p:nvPr/>
        </p:nvSpPr>
        <p:spPr>
          <a:xfrm>
            <a:off x="4074079" y="762302"/>
            <a:ext cx="7718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Edge Computing Innovation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EB246D-7B52-63B1-E9BC-A072E1441372}"/>
              </a:ext>
            </a:extLst>
          </p:cNvPr>
          <p:cNvSpPr txBox="1"/>
          <p:nvPr/>
        </p:nvSpPr>
        <p:spPr>
          <a:xfrm>
            <a:off x="4074079" y="1268222"/>
            <a:ext cx="7781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1" i="0" u="none" strike="noStrike" spc="600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TRINITY</a:t>
            </a:r>
            <a:endParaRPr lang="en-US" sz="4800" spc="600" dirty="0">
              <a:solidFill>
                <a:srgbClr val="0072B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D569D7-38C4-116B-F2E8-EF60FF34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7129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7200-954D-4144-AB91-34B7ED1B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BEA70F7-70C6-C757-E249-CE4C44A2679B}"/>
              </a:ext>
            </a:extLst>
          </p:cNvPr>
          <p:cNvGrpSpPr/>
          <p:nvPr/>
        </p:nvGrpSpPr>
        <p:grpSpPr>
          <a:xfrm>
            <a:off x="1101213" y="1195919"/>
            <a:ext cx="7826478" cy="2843840"/>
            <a:chOff x="1091380" y="1148419"/>
            <a:chExt cx="7826478" cy="28438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E58D85C-3B1E-0521-3316-A2EA3E9B14CC}"/>
                </a:ext>
              </a:extLst>
            </p:cNvPr>
            <p:cNvGrpSpPr/>
            <p:nvPr/>
          </p:nvGrpSpPr>
          <p:grpSpPr>
            <a:xfrm>
              <a:off x="1382891" y="1148419"/>
              <a:ext cx="7534967" cy="2843840"/>
              <a:chOff x="252182" y="1138587"/>
              <a:chExt cx="7534967" cy="2843840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E46B5E-F394-AC92-C35A-48B2667DB0D7}"/>
                  </a:ext>
                </a:extLst>
              </p:cNvPr>
              <p:cNvSpPr txBox="1"/>
              <p:nvPr/>
            </p:nvSpPr>
            <p:spPr>
              <a:xfrm>
                <a:off x="252183" y="1138587"/>
                <a:ext cx="667318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i="0" u="none" strike="noStrike" dirty="0">
                    <a:solidFill>
                      <a:sysClr val="windowText" lastClr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1. Motivation</a:t>
                </a: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1C0BDC-B5A9-E281-65F6-5D48F4266C7A}"/>
                  </a:ext>
                </a:extLst>
              </p:cNvPr>
              <p:cNvSpPr txBox="1"/>
              <p:nvPr/>
            </p:nvSpPr>
            <p:spPr>
              <a:xfrm>
                <a:off x="252182" y="1871090"/>
                <a:ext cx="667318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i="0" u="none" strike="noStrike" dirty="0">
                    <a:solidFill>
                      <a:sysClr val="windowText" lastClr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2. Objectives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3BF4C2-F5DE-FD62-94A1-24885E7CB5FE}"/>
                  </a:ext>
                </a:extLst>
              </p:cNvPr>
              <p:cNvSpPr txBox="1"/>
              <p:nvPr/>
            </p:nvSpPr>
            <p:spPr>
              <a:xfrm>
                <a:off x="252182" y="2603593"/>
                <a:ext cx="75349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i="0" u="none" strike="noStrike" dirty="0">
                    <a:solidFill>
                      <a:sysClr val="windowText" lastClr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3. Related works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13A970-4DC0-C47C-93C1-63FD91423F5A}"/>
                  </a:ext>
                </a:extLst>
              </p:cNvPr>
              <p:cNvSpPr txBox="1"/>
              <p:nvPr/>
            </p:nvSpPr>
            <p:spPr>
              <a:xfrm>
                <a:off x="252182" y="3336096"/>
                <a:ext cx="75349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i="0" u="none" strike="noStrike" dirty="0">
                    <a:solidFill>
                      <a:sysClr val="windowText" lastClr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 Datasets</a:t>
                </a:r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EB09D03-624E-EBA4-FA78-40C7EE0A38F1}"/>
                </a:ext>
              </a:extLst>
            </p:cNvPr>
            <p:cNvCxnSpPr>
              <a:cxnSpLocks/>
            </p:cNvCxnSpPr>
            <p:nvPr/>
          </p:nvCxnSpPr>
          <p:spPr>
            <a:xfrm>
              <a:off x="1091380" y="1340147"/>
              <a:ext cx="0" cy="2546555"/>
            </a:xfrm>
            <a:prstGeom prst="line">
              <a:avLst/>
            </a:prstGeom>
            <a:ln w="38100">
              <a:solidFill>
                <a:srgbClr val="0072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A8EC38-08C5-46B0-3242-82E7FA49EA30}"/>
              </a:ext>
            </a:extLst>
          </p:cNvPr>
          <p:cNvGrpSpPr/>
          <p:nvPr/>
        </p:nvGrpSpPr>
        <p:grpSpPr>
          <a:xfrm>
            <a:off x="6523702" y="3507658"/>
            <a:ext cx="7723241" cy="2843840"/>
            <a:chOff x="6376218" y="3429000"/>
            <a:chExt cx="7723241" cy="284384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FCB01C7-9E96-D6E3-03FB-B1C7E1EC9BBD}"/>
                </a:ext>
              </a:extLst>
            </p:cNvPr>
            <p:cNvGrpSpPr/>
            <p:nvPr/>
          </p:nvGrpSpPr>
          <p:grpSpPr>
            <a:xfrm>
              <a:off x="6564491" y="3429000"/>
              <a:ext cx="7534968" cy="2843840"/>
              <a:chOff x="2395613" y="4130535"/>
              <a:chExt cx="7534968" cy="284384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C0CE53-B7A7-4A9D-766A-9BED6BAE35C3}"/>
                  </a:ext>
                </a:extLst>
              </p:cNvPr>
              <p:cNvSpPr txBox="1"/>
              <p:nvPr/>
            </p:nvSpPr>
            <p:spPr>
              <a:xfrm>
                <a:off x="2395614" y="4130535"/>
                <a:ext cx="75349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u="none" strike="noStrike" dirty="0">
                    <a:solidFill>
                      <a:sysClr val="windowText" lastClr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5. Methods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DE90AC-5800-EAF2-4D9E-69CC6BCE3BFF}"/>
                  </a:ext>
                </a:extLst>
              </p:cNvPr>
              <p:cNvSpPr txBox="1"/>
              <p:nvPr/>
            </p:nvSpPr>
            <p:spPr>
              <a:xfrm>
                <a:off x="2395614" y="4863038"/>
                <a:ext cx="75349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u="none" strike="noStrike" dirty="0">
                    <a:solidFill>
                      <a:sysClr val="windowText" lastClr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6. Results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A95397-2D7D-2543-A26F-0302285D1D4D}"/>
                  </a:ext>
                </a:extLst>
              </p:cNvPr>
              <p:cNvSpPr txBox="1"/>
              <p:nvPr/>
            </p:nvSpPr>
            <p:spPr>
              <a:xfrm>
                <a:off x="2395613" y="6328044"/>
                <a:ext cx="75349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>
                  <a:buNone/>
                </a:pPr>
                <a:r>
                  <a:rPr lang="en-US" sz="3600" u="none" strike="noStrike" dirty="0">
                    <a:solidFill>
                      <a:sysClr val="windowText" lastClr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8. Application demo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19CB44-4FB9-D0E3-1D3A-A97107F77A2D}"/>
                  </a:ext>
                </a:extLst>
              </p:cNvPr>
              <p:cNvSpPr txBox="1"/>
              <p:nvPr/>
            </p:nvSpPr>
            <p:spPr>
              <a:xfrm>
                <a:off x="2395614" y="5595541"/>
                <a:ext cx="753496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u="none" strike="noStrike" dirty="0">
                    <a:solidFill>
                      <a:sysClr val="windowText" lastClr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7</a:t>
                </a:r>
                <a:r>
                  <a:rPr lang="en-US" sz="3600" dirty="0">
                    <a:solidFill>
                      <a:sysClr val="windowText" lastClr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Conclusion</a:t>
                </a:r>
                <a:endParaRPr lang="en-US" sz="3600" u="none" strike="noStrike" dirty="0">
                  <a:solidFill>
                    <a:sysClr val="windowText" lastClr="0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E45AED5-1234-1F43-5EA4-57078934B68E}"/>
                </a:ext>
              </a:extLst>
            </p:cNvPr>
            <p:cNvCxnSpPr>
              <a:cxnSpLocks/>
            </p:cNvCxnSpPr>
            <p:nvPr/>
          </p:nvCxnSpPr>
          <p:spPr>
            <a:xfrm>
              <a:off x="6376218" y="3620728"/>
              <a:ext cx="0" cy="2546555"/>
            </a:xfrm>
            <a:prstGeom prst="line">
              <a:avLst/>
            </a:prstGeom>
            <a:ln w="38100">
              <a:solidFill>
                <a:srgbClr val="0072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12B0C52-4627-63EB-7A2C-F832192014A0}"/>
              </a:ext>
            </a:extLst>
          </p:cNvPr>
          <p:cNvSpPr txBox="1"/>
          <p:nvPr/>
        </p:nvSpPr>
        <p:spPr>
          <a:xfrm>
            <a:off x="6523702" y="1052167"/>
            <a:ext cx="40334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72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5502CA-27D1-6441-33D7-9FD93656F9FC}"/>
              </a:ext>
            </a:extLst>
          </p:cNvPr>
          <p:cNvSpPr txBox="1"/>
          <p:nvPr/>
        </p:nvSpPr>
        <p:spPr>
          <a:xfrm>
            <a:off x="1392724" y="4597171"/>
            <a:ext cx="40463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72B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OUTLINE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23807D-F5D1-70FF-B308-F6ED105F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4423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C44D32A-7F56-9731-837F-FD71B35CCD51}"/>
              </a:ext>
            </a:extLst>
          </p:cNvPr>
          <p:cNvSpPr txBox="1"/>
          <p:nvPr/>
        </p:nvSpPr>
        <p:spPr>
          <a:xfrm>
            <a:off x="737449" y="1877595"/>
            <a:ext cx="6069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b="0" i="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sites are highly dangerous environments that require strict safety monitoring.</a:t>
            </a:r>
          </a:p>
        </p:txBody>
      </p:sp>
      <p:pic>
        <p:nvPicPr>
          <p:cNvPr id="2" name="Graphic 1" descr="Caret Right with solid fill">
            <a:extLst>
              <a:ext uri="{FF2B5EF4-FFF2-40B4-BE49-F238E27FC236}">
                <a16:creationId xmlns:a16="http://schemas.microsoft.com/office/drawing/2014/main" id="{25F7A42D-4043-0820-E163-C96165FD51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777" y="1797926"/>
            <a:ext cx="530943" cy="530943"/>
          </a:xfrm>
          <a:prstGeom prst="rect">
            <a:avLst/>
          </a:prstGeom>
        </p:spPr>
      </p:pic>
      <p:pic>
        <p:nvPicPr>
          <p:cNvPr id="4" name="Graphic 3" descr="Caret Right with solid fill">
            <a:extLst>
              <a:ext uri="{FF2B5EF4-FFF2-40B4-BE49-F238E27FC236}">
                <a16:creationId xmlns:a16="http://schemas.microsoft.com/office/drawing/2014/main" id="{DBFC1139-F1DF-2739-8365-DDEFB5A2F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777" y="2719013"/>
            <a:ext cx="530943" cy="530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9F4D96-3730-271A-CE7C-F9CAF4881531}"/>
              </a:ext>
            </a:extLst>
          </p:cNvPr>
          <p:cNvSpPr txBox="1"/>
          <p:nvPr/>
        </p:nvSpPr>
        <p:spPr>
          <a:xfrm>
            <a:off x="737450" y="2799818"/>
            <a:ext cx="6069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b="0" i="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7,004 occupational accidents / 658 fatalities in Vietnam, 2025 (MOLISA)</a:t>
            </a:r>
          </a:p>
        </p:txBody>
      </p:sp>
      <p:pic>
        <p:nvPicPr>
          <p:cNvPr id="14" name="Graphic 13" descr="Caret Right with solid fill">
            <a:extLst>
              <a:ext uri="{FF2B5EF4-FFF2-40B4-BE49-F238E27FC236}">
                <a16:creationId xmlns:a16="http://schemas.microsoft.com/office/drawing/2014/main" id="{05EF6542-2CB8-06F4-D1CC-FA684D750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777" y="3722041"/>
            <a:ext cx="530943" cy="5309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46E066-8825-6494-FAC4-407CF2FE390C}"/>
              </a:ext>
            </a:extLst>
          </p:cNvPr>
          <p:cNvSpPr txBox="1"/>
          <p:nvPr/>
        </p:nvSpPr>
        <p:spPr>
          <a:xfrm>
            <a:off x="737450" y="3802846"/>
            <a:ext cx="6069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b="0" i="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Manual CCTV monitoring suffers fatigue, misses real-time violations</a:t>
            </a:r>
          </a:p>
        </p:txBody>
      </p:sp>
      <p:pic>
        <p:nvPicPr>
          <p:cNvPr id="33" name="Graphic 32" descr="Caret Right with solid fill">
            <a:extLst>
              <a:ext uri="{FF2B5EF4-FFF2-40B4-BE49-F238E27FC236}">
                <a16:creationId xmlns:a16="http://schemas.microsoft.com/office/drawing/2014/main" id="{C399D98A-561B-9776-870C-FFF631E1A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5777" y="4725069"/>
            <a:ext cx="530943" cy="53094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F8550D7-26C3-F727-8A4B-F0CF377B26A6}"/>
              </a:ext>
            </a:extLst>
          </p:cNvPr>
          <p:cNvSpPr txBox="1"/>
          <p:nvPr/>
        </p:nvSpPr>
        <p:spPr>
          <a:xfrm>
            <a:off x="737450" y="4805874"/>
            <a:ext cx="6069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b="0" i="0" u="none" strike="noStrike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AI: high latency, heavy bandwidth cost, privacy risk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65EDCF-53CB-CA8D-0A5D-B5CA07D8DCFB}"/>
              </a:ext>
            </a:extLst>
          </p:cNvPr>
          <p:cNvSpPr txBox="1"/>
          <p:nvPr/>
        </p:nvSpPr>
        <p:spPr>
          <a:xfrm>
            <a:off x="245777" y="1176930"/>
            <a:ext cx="31070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Motivations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AB0DBD8-0352-3A68-D7F4-6FBE212C3C94}"/>
              </a:ext>
            </a:extLst>
          </p:cNvPr>
          <p:cNvGrpSpPr/>
          <p:nvPr/>
        </p:nvGrpSpPr>
        <p:grpSpPr>
          <a:xfrm>
            <a:off x="7122770" y="1879122"/>
            <a:ext cx="4823453" cy="3376890"/>
            <a:chOff x="7108193" y="2060475"/>
            <a:chExt cx="4823453" cy="337689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963C08-C930-ACB2-A01D-F73927298D5C}"/>
                </a:ext>
              </a:extLst>
            </p:cNvPr>
            <p:cNvSpPr txBox="1"/>
            <p:nvPr/>
          </p:nvSpPr>
          <p:spPr>
            <a:xfrm>
              <a:off x="7108193" y="5068033"/>
              <a:ext cx="48234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n-US" i="1" dirty="0">
                  <a:solidFill>
                    <a:srgbClr val="000000"/>
                  </a:solidFill>
                  <a:effectLst/>
                </a:rPr>
                <a:t>PPE violated construction site</a:t>
              </a:r>
              <a:endParaRPr lang="en-US" dirty="0">
                <a:effectLst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73EF9EA-DF01-B6F0-9BCE-B1DC1A4B2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8193" y="2060475"/>
              <a:ext cx="4823453" cy="301465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E4FA3-E34C-FAA5-5479-8727D3C7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07301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B5AD-B732-9641-7BD6-FABEA295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5D8E8-8281-89FF-08B0-0488199A39BA}"/>
              </a:ext>
            </a:extLst>
          </p:cNvPr>
          <p:cNvGrpSpPr/>
          <p:nvPr/>
        </p:nvGrpSpPr>
        <p:grpSpPr>
          <a:xfrm>
            <a:off x="245777" y="1879206"/>
            <a:ext cx="9142063" cy="530943"/>
            <a:chOff x="245777" y="1797926"/>
            <a:chExt cx="9142063" cy="53094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472C21-CAFE-A28F-CBAD-09219DD3226E}"/>
                </a:ext>
              </a:extLst>
            </p:cNvPr>
            <p:cNvSpPr txBox="1"/>
            <p:nvPr/>
          </p:nvSpPr>
          <p:spPr>
            <a:xfrm>
              <a:off x="737449" y="1878731"/>
              <a:ext cx="86503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sz="1800" i="0" u="none" strike="noStrike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Develop an Edge AI system for real-time construction site safety monitoring.</a:t>
              </a:r>
            </a:p>
          </p:txBody>
        </p:sp>
        <p:pic>
          <p:nvPicPr>
            <p:cNvPr id="2" name="Graphic 1" descr="Caret Right with solid fill">
              <a:extLst>
                <a:ext uri="{FF2B5EF4-FFF2-40B4-BE49-F238E27FC236}">
                  <a16:creationId xmlns:a16="http://schemas.microsoft.com/office/drawing/2014/main" id="{6628A5A4-BE13-B723-AA25-172EDDBD76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5777" y="1797926"/>
              <a:ext cx="530943" cy="53094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601535-66A2-A5C3-096B-94ED4072D6E1}"/>
              </a:ext>
            </a:extLst>
          </p:cNvPr>
          <p:cNvGrpSpPr/>
          <p:nvPr/>
        </p:nvGrpSpPr>
        <p:grpSpPr>
          <a:xfrm>
            <a:off x="245777" y="2563141"/>
            <a:ext cx="6856063" cy="530943"/>
            <a:chOff x="245777" y="2719013"/>
            <a:chExt cx="6856063" cy="530943"/>
          </a:xfrm>
        </p:grpSpPr>
        <p:pic>
          <p:nvPicPr>
            <p:cNvPr id="4" name="Graphic 3" descr="Caret Right with solid fill">
              <a:extLst>
                <a:ext uri="{FF2B5EF4-FFF2-40B4-BE49-F238E27FC236}">
                  <a16:creationId xmlns:a16="http://schemas.microsoft.com/office/drawing/2014/main" id="{6E9A1A6D-2A2A-00F5-FEA9-0E7E378F4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5777" y="2719013"/>
              <a:ext cx="530943" cy="53094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62CC5E-F761-1115-8901-802AF6919590}"/>
                </a:ext>
              </a:extLst>
            </p:cNvPr>
            <p:cNvSpPr txBox="1"/>
            <p:nvPr/>
          </p:nvSpPr>
          <p:spPr>
            <a:xfrm>
              <a:off x="737449" y="2800954"/>
              <a:ext cx="63643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sz="1800" b="0" i="0" u="none" strike="noStrike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Detect PPE violations and hazardous situations automatically.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39F0E7-E8FE-B69E-0C37-46912EC73404}"/>
              </a:ext>
            </a:extLst>
          </p:cNvPr>
          <p:cNvGrpSpPr/>
          <p:nvPr/>
        </p:nvGrpSpPr>
        <p:grpSpPr>
          <a:xfrm>
            <a:off x="245777" y="3247076"/>
            <a:ext cx="6561422" cy="530943"/>
            <a:chOff x="245777" y="3722041"/>
            <a:chExt cx="6561422" cy="530943"/>
          </a:xfrm>
        </p:grpSpPr>
        <p:pic>
          <p:nvPicPr>
            <p:cNvPr id="14" name="Graphic 13" descr="Caret Right with solid fill">
              <a:extLst>
                <a:ext uri="{FF2B5EF4-FFF2-40B4-BE49-F238E27FC236}">
                  <a16:creationId xmlns:a16="http://schemas.microsoft.com/office/drawing/2014/main" id="{81D8D0A9-565E-0B78-5C87-273EEA9951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5777" y="3722041"/>
              <a:ext cx="530943" cy="53094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293EA1-96C0-B52D-2DED-FDB5662DB819}"/>
                </a:ext>
              </a:extLst>
            </p:cNvPr>
            <p:cNvSpPr txBox="1"/>
            <p:nvPr/>
          </p:nvSpPr>
          <p:spPr>
            <a:xfrm>
              <a:off x="737449" y="3802846"/>
              <a:ext cx="6069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sz="1800" b="0" i="0" u="none" strike="noStrike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Provide low-latency on-site alerts.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F207B0-EF9A-B988-CD56-884184088BC6}"/>
              </a:ext>
            </a:extLst>
          </p:cNvPr>
          <p:cNvGrpSpPr/>
          <p:nvPr/>
        </p:nvGrpSpPr>
        <p:grpSpPr>
          <a:xfrm>
            <a:off x="245777" y="3931011"/>
            <a:ext cx="6561422" cy="530943"/>
            <a:chOff x="245777" y="4725069"/>
            <a:chExt cx="6561422" cy="530943"/>
          </a:xfrm>
        </p:grpSpPr>
        <p:pic>
          <p:nvPicPr>
            <p:cNvPr id="33" name="Graphic 32" descr="Caret Right with solid fill">
              <a:extLst>
                <a:ext uri="{FF2B5EF4-FFF2-40B4-BE49-F238E27FC236}">
                  <a16:creationId xmlns:a16="http://schemas.microsoft.com/office/drawing/2014/main" id="{7399233A-94E8-F4A4-5745-FFD93D4757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45777" y="4725069"/>
              <a:ext cx="530943" cy="53094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2002CB4-EDE8-5CE3-47C7-1B0068892845}"/>
                </a:ext>
              </a:extLst>
            </p:cNvPr>
            <p:cNvSpPr txBox="1"/>
            <p:nvPr/>
          </p:nvSpPr>
          <p:spPr>
            <a:xfrm>
              <a:off x="737449" y="4805874"/>
              <a:ext cx="6069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sz="1800" b="0" i="0" u="none" strike="noStrike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Reduce false alarms through temporal verification.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A7BC1B-7F4E-4C22-955D-22EFBF58461E}"/>
              </a:ext>
            </a:extLst>
          </p:cNvPr>
          <p:cNvSpPr txBox="1"/>
          <p:nvPr/>
        </p:nvSpPr>
        <p:spPr>
          <a:xfrm>
            <a:off x="245777" y="1176930"/>
            <a:ext cx="31070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Objectives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7EB943-3814-2F46-0D21-24DDDF8EB7A6}"/>
              </a:ext>
            </a:extLst>
          </p:cNvPr>
          <p:cNvGrpSpPr/>
          <p:nvPr/>
        </p:nvGrpSpPr>
        <p:grpSpPr>
          <a:xfrm>
            <a:off x="245777" y="4614947"/>
            <a:ext cx="8300152" cy="530943"/>
            <a:chOff x="206506" y="5681070"/>
            <a:chExt cx="8300152" cy="53094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181564-29F8-F054-AB15-4E1C4C7038CC}"/>
                </a:ext>
              </a:extLst>
            </p:cNvPr>
            <p:cNvSpPr txBox="1"/>
            <p:nvPr/>
          </p:nvSpPr>
          <p:spPr>
            <a:xfrm>
              <a:off x="698178" y="5761874"/>
              <a:ext cx="78084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buNone/>
              </a:pPr>
              <a:r>
                <a:rPr lang="en-US" sz="1800" b="0" i="0" u="none" strike="noStrike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Minimize bandwidth and preserve privacy using an edge-first architecture.</a:t>
              </a:r>
            </a:p>
          </p:txBody>
        </p:sp>
        <p:pic>
          <p:nvPicPr>
            <p:cNvPr id="12" name="Graphic 11" descr="Caret Right with solid fill">
              <a:extLst>
                <a:ext uri="{FF2B5EF4-FFF2-40B4-BE49-F238E27FC236}">
                  <a16:creationId xmlns:a16="http://schemas.microsoft.com/office/drawing/2014/main" id="{CAE6556F-CBDC-3217-A973-810A93A5F6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6506" y="5681070"/>
              <a:ext cx="530943" cy="530943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7F7E7-4D52-D8FD-A71E-42719652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4662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3AF8-507D-7D36-B914-17073BAB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A1CBF1-1E56-F38E-A1C9-76B1BD4EB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955790"/>
              </p:ext>
            </p:extLst>
          </p:nvPr>
        </p:nvGraphicFramePr>
        <p:xfrm>
          <a:off x="1008380" y="1971377"/>
          <a:ext cx="10175240" cy="3709693"/>
        </p:xfrm>
        <a:graphic>
          <a:graphicData uri="http://schemas.openxmlformats.org/drawingml/2006/table">
            <a:tbl>
              <a:tblPr/>
              <a:tblGrid>
                <a:gridCol w="4935220">
                  <a:extLst>
                    <a:ext uri="{9D8B030D-6E8A-4147-A177-3AD203B41FA5}">
                      <a16:colId xmlns:a16="http://schemas.microsoft.com/office/drawing/2014/main" val="2898578303"/>
                    </a:ext>
                  </a:extLst>
                </a:gridCol>
                <a:gridCol w="5240020">
                  <a:extLst>
                    <a:ext uri="{9D8B030D-6E8A-4147-A177-3AD203B41FA5}">
                      <a16:colId xmlns:a16="http://schemas.microsoft.com/office/drawing/2014/main" val="796975133"/>
                    </a:ext>
                  </a:extLst>
                </a:gridCol>
              </a:tblGrid>
              <a:tr h="37676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Related Works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3B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Research Gaps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42444"/>
                  </a:ext>
                </a:extLst>
              </a:tr>
              <a:tr h="83065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YOLO-based PPE detection with attention modules 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</a:t>
                      </a:r>
                      <a:r>
                        <a:rPr lang="da-DK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Z. Wu et al, 2025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]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Object-focused detection without hazard context.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338859"/>
                  </a:ext>
                </a:extLst>
              </a:tr>
              <a:tr h="97783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Edge computing for construction monitoring </a:t>
                      </a:r>
                    </a:p>
                    <a:p>
                      <a:pPr algn="l" rtl="0">
                        <a:buNone/>
                      </a:pP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[X. Xiao et al., 2024 &amp; M. </a:t>
                      </a:r>
                      <a:r>
                        <a:rPr lang="en-US" sz="1400" b="1" i="0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Gugssa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et al., 2024]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Bandwidth savings mainly reported as theoretical estimates.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002278"/>
                  </a:ext>
                </a:extLst>
              </a:tr>
              <a:tr h="859403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Frame-by-frame vision monitoring </a:t>
                      </a:r>
                    </a:p>
                    <a:p>
                      <a:pPr algn="l" rtl="0">
                        <a:buNone/>
                      </a:pP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[S. </a:t>
                      </a:r>
                      <a:r>
                        <a:rPr lang="en-US" sz="1400" b="1" i="0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JoonOh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et al.]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High false-positive rate caused by transient detections.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825768"/>
                  </a:ext>
                </a:extLst>
              </a:tr>
              <a:tr h="665035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 compression for edge AI 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[B. Tong et al.]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Limited validation in real-world deployment scenarios.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4219" marR="84219" marT="42110" marB="4211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758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C2FF59E-D95C-E017-04F7-850AC5416ACA}"/>
              </a:ext>
            </a:extLst>
          </p:cNvPr>
          <p:cNvSpPr txBox="1"/>
          <p:nvPr/>
        </p:nvSpPr>
        <p:spPr>
          <a:xfrm>
            <a:off x="245777" y="1176930"/>
            <a:ext cx="66731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Related Works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30AA0-E126-FBE3-46CE-3B0B5BEBE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3303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5F56-AD7E-7866-7ABE-668F32AD8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BC7D2FF-2BC0-7F8F-48E4-60D46621D256}"/>
              </a:ext>
            </a:extLst>
          </p:cNvPr>
          <p:cNvSpPr txBox="1"/>
          <p:nvPr/>
        </p:nvSpPr>
        <p:spPr>
          <a:xfrm>
            <a:off x="245777" y="1176930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282D4-49AD-0823-F5C4-187DA1A8B946}"/>
              </a:ext>
            </a:extLst>
          </p:cNvPr>
          <p:cNvSpPr txBox="1"/>
          <p:nvPr/>
        </p:nvSpPr>
        <p:spPr>
          <a:xfrm>
            <a:off x="245777" y="1700150"/>
            <a:ext cx="11503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b="1" i="0" dirty="0" err="1">
                <a:solidFill>
                  <a:srgbClr val="0273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Ultralytics</a:t>
            </a:r>
            <a:r>
              <a:rPr lang="en-US" b="1" i="0" dirty="0">
                <a:solidFill>
                  <a:srgbClr val="0273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Construction-PPE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dataset was used as the base dataset.</a:t>
            </a: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additional public datasets were merged through class remapping to increase training samples and improve class balance.</a:t>
            </a:r>
            <a:endParaRPr lang="en-US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0FC71BC-2C8D-ED1E-21CE-3553DD0D3003}"/>
              </a:ext>
            </a:extLst>
          </p:cNvPr>
          <p:cNvGrpSpPr/>
          <p:nvPr/>
        </p:nvGrpSpPr>
        <p:grpSpPr>
          <a:xfrm>
            <a:off x="245777" y="2351846"/>
            <a:ext cx="6951883" cy="4103480"/>
            <a:chOff x="245777" y="2459780"/>
            <a:chExt cx="6951883" cy="41034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808D17-F4B1-0CB2-F53D-90FEBA787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777" y="2459780"/>
              <a:ext cx="6951883" cy="410348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92E028-7960-21B6-7B8C-BA69AD764225}"/>
                </a:ext>
              </a:extLst>
            </p:cNvPr>
            <p:cNvSpPr txBox="1"/>
            <p:nvPr/>
          </p:nvSpPr>
          <p:spPr>
            <a:xfrm>
              <a:off x="1309991" y="6162727"/>
              <a:ext cx="48234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n-US" i="1" dirty="0">
                  <a:solidFill>
                    <a:srgbClr val="000000"/>
                  </a:solidFill>
                  <a:effectLst/>
                </a:rPr>
                <a:t>Dataset preprocessing diagram</a:t>
              </a:r>
              <a:endParaRPr lang="en-US" dirty="0">
                <a:effectLst/>
              </a:endParaRP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4CFA718-69C8-77C0-7C0B-4F747EF87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530549"/>
              </p:ext>
            </p:extLst>
          </p:nvPr>
        </p:nvGraphicFramePr>
        <p:xfrm>
          <a:off x="7197660" y="2379823"/>
          <a:ext cx="4823453" cy="3762604"/>
        </p:xfrm>
        <a:graphic>
          <a:graphicData uri="http://schemas.openxmlformats.org/drawingml/2006/table">
            <a:tbl>
              <a:tblPr firstRow="1" firstCol="1" bandRow="1"/>
              <a:tblGrid>
                <a:gridCol w="1472207">
                  <a:extLst>
                    <a:ext uri="{9D8B030D-6E8A-4147-A177-3AD203B41FA5}">
                      <a16:colId xmlns:a16="http://schemas.microsoft.com/office/drawing/2014/main" val="608020970"/>
                    </a:ext>
                  </a:extLst>
                </a:gridCol>
                <a:gridCol w="1743073">
                  <a:extLst>
                    <a:ext uri="{9D8B030D-6E8A-4147-A177-3AD203B41FA5}">
                      <a16:colId xmlns:a16="http://schemas.microsoft.com/office/drawing/2014/main" val="1811654167"/>
                    </a:ext>
                  </a:extLst>
                </a:gridCol>
                <a:gridCol w="1608173">
                  <a:extLst>
                    <a:ext uri="{9D8B030D-6E8A-4147-A177-3AD203B41FA5}">
                      <a16:colId xmlns:a16="http://schemas.microsoft.com/office/drawing/2014/main" val="3163065511"/>
                    </a:ext>
                  </a:extLst>
                </a:gridCol>
              </a:tblGrid>
              <a:tr h="5034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Class Name</a:t>
                      </a:r>
                      <a:endParaRPr lang="en-US" sz="1500" kern="1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Ultralytics</a:t>
                      </a:r>
                      <a:r>
                        <a:rPr lang="en-US" sz="1500" b="1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Train Instances</a:t>
                      </a:r>
                      <a:endParaRPr lang="en-US" sz="1500" kern="1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b="1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Merged Train Instances</a:t>
                      </a:r>
                      <a:endParaRPr lang="en-US" sz="1500" kern="1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663051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helmet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1357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33,482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910332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gloves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1162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4,527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366423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vest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1283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8,801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00748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boots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1251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1,235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724383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goggles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427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3,378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092845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none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507891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Person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1790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12,336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8259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no_helmet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400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12,423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107891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no_goggle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3,154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264206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no_gloves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442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4,722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949060"/>
                  </a:ext>
                </a:extLst>
              </a:tr>
              <a:tr h="2752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no_boots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500" kern="100" dirty="0">
                          <a:solidFill>
                            <a:srgbClr val="C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6095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E98493A-9C90-5BBE-79E6-6FE55D9B68BC}"/>
              </a:ext>
            </a:extLst>
          </p:cNvPr>
          <p:cNvSpPr txBox="1"/>
          <p:nvPr/>
        </p:nvSpPr>
        <p:spPr>
          <a:xfrm>
            <a:off x="7197658" y="6142427"/>
            <a:ext cx="4823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i="1" dirty="0">
                <a:solidFill>
                  <a:srgbClr val="000000"/>
                </a:solidFill>
                <a:effectLst/>
              </a:rPr>
              <a:t>Original and merged dataset class distribution</a:t>
            </a:r>
            <a:endParaRPr lang="en-US" dirty="0">
              <a:effectLst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B335400-A5E1-16CE-CA11-A971585F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8551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7D51D-2F9C-4C12-9CE2-81EDD3441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E21E702-298E-49D7-F836-FCC659783715}"/>
              </a:ext>
            </a:extLst>
          </p:cNvPr>
          <p:cNvSpPr txBox="1"/>
          <p:nvPr/>
        </p:nvSpPr>
        <p:spPr>
          <a:xfrm>
            <a:off x="2759408" y="2921168"/>
            <a:ext cx="66731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Method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696F5E-83E8-A521-3EAD-AECE161E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9961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7A673-F6CB-7E60-225B-43D900BB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2B2DA371-AEF2-CA97-B7FF-08500D7E8797}"/>
              </a:ext>
            </a:extLst>
          </p:cNvPr>
          <p:cNvSpPr txBox="1"/>
          <p:nvPr/>
        </p:nvSpPr>
        <p:spPr>
          <a:xfrm>
            <a:off x="245777" y="1176930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5.1. Overall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54D29-A88B-6DD5-3F73-75CE0858A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1"/>
          <a:stretch>
            <a:fillRect/>
          </a:stretch>
        </p:blipFill>
        <p:spPr>
          <a:xfrm>
            <a:off x="1873537" y="1735273"/>
            <a:ext cx="8444926" cy="4311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97997F-0D9F-EDC6-8D87-029748B65235}"/>
              </a:ext>
            </a:extLst>
          </p:cNvPr>
          <p:cNvSpPr txBox="1"/>
          <p:nvPr/>
        </p:nvSpPr>
        <p:spPr>
          <a:xfrm>
            <a:off x="1873538" y="6046939"/>
            <a:ext cx="844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i="1" dirty="0">
                <a:solidFill>
                  <a:srgbClr val="000000"/>
                </a:solidFill>
                <a:effectLst/>
              </a:rPr>
              <a:t>Overall method of the project</a:t>
            </a:r>
            <a:endParaRPr lang="en-US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7E018-515B-1373-8762-591A1161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2084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30D2-B92E-CA7D-E63A-436BB60B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EE658D7C-D01E-1DF6-7AB6-5C6D54A08B3C}"/>
              </a:ext>
            </a:extLst>
          </p:cNvPr>
          <p:cNvSpPr txBox="1"/>
          <p:nvPr/>
        </p:nvSpPr>
        <p:spPr>
          <a:xfrm>
            <a:off x="245777" y="1176930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5.1.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CC90C-5354-2156-FC6F-3474ABCB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02E5F-8F4C-65B7-639B-2B3FA5621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516"/>
          <a:stretch>
            <a:fillRect/>
          </a:stretch>
        </p:blipFill>
        <p:spPr>
          <a:xfrm>
            <a:off x="1488549" y="1822261"/>
            <a:ext cx="4007684" cy="4513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3BB193-7A0F-234B-5930-CC36AD62B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160"/>
          <a:stretch>
            <a:fillRect/>
          </a:stretch>
        </p:blipFill>
        <p:spPr>
          <a:xfrm>
            <a:off x="6096000" y="1944372"/>
            <a:ext cx="5086690" cy="426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2110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896D-E127-340C-B7D2-0DE02D43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2B3777-D2E4-99E1-645A-CDC198B8D29B}"/>
              </a:ext>
            </a:extLst>
          </p:cNvPr>
          <p:cNvSpPr txBox="1"/>
          <p:nvPr/>
        </p:nvSpPr>
        <p:spPr>
          <a:xfrm>
            <a:off x="2759408" y="2921168"/>
            <a:ext cx="66731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D98E4E-FDAE-1545-0B61-DD0035FE9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341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A2B3-4848-520F-303C-3C54C506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6DBD91-D9F9-AA2F-183E-387A0D0F5E2F}"/>
              </a:ext>
            </a:extLst>
          </p:cNvPr>
          <p:cNvSpPr txBox="1"/>
          <p:nvPr/>
        </p:nvSpPr>
        <p:spPr>
          <a:xfrm>
            <a:off x="216280" y="1078607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8B0238-B8E8-AB9A-9FF3-75CD516AA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010091"/>
              </p:ext>
            </p:extLst>
          </p:nvPr>
        </p:nvGraphicFramePr>
        <p:xfrm>
          <a:off x="481779" y="1829816"/>
          <a:ext cx="11228442" cy="2111807"/>
        </p:xfrm>
        <a:graphic>
          <a:graphicData uri="http://schemas.openxmlformats.org/drawingml/2006/table">
            <a:tbl>
              <a:tblPr/>
              <a:tblGrid>
                <a:gridCol w="1871407">
                  <a:extLst>
                    <a:ext uri="{9D8B030D-6E8A-4147-A177-3AD203B41FA5}">
                      <a16:colId xmlns:a16="http://schemas.microsoft.com/office/drawing/2014/main" val="395453955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227816937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912497620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2890038701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3200517465"/>
                    </a:ext>
                  </a:extLst>
                </a:gridCol>
                <a:gridCol w="1871407">
                  <a:extLst>
                    <a:ext uri="{9D8B030D-6E8A-4147-A177-3AD203B41FA5}">
                      <a16:colId xmlns:a16="http://schemas.microsoft.com/office/drawing/2014/main" val="2614145366"/>
                    </a:ext>
                  </a:extLst>
                </a:gridCol>
              </a:tblGrid>
              <a:tr h="7032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 Format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Model Size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Latency (ms/img)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Throughput (FPS)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Overall mAP@0.5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Violation mAP@0.5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378"/>
                  </a:ext>
                </a:extLst>
              </a:tr>
              <a:tr h="70427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ONNX FP32</a:t>
                      </a:r>
                      <a:r>
                        <a:rPr lang="en-US" sz="1800" b="0" i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(Dynamic B=8)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10.3 MB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7.61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131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0.749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0.671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338351"/>
                  </a:ext>
                </a:extLst>
              </a:tr>
              <a:tr h="70427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b="1" i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ONNX FP16</a:t>
                      </a:r>
                      <a:r>
                        <a:rPr lang="en-US" sz="1800" b="0" i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(Dynamic B=4)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5.7 MB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9.05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110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0.750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0.671</a:t>
                      </a:r>
                    </a:p>
                  </a:txBody>
                  <a:tcPr marL="55080" marR="55080" marT="27540" marB="27540" anchor="ctr">
                    <a:lnL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9867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CE05F5-A46F-0C90-8519-36BD5BF401CD}"/>
              </a:ext>
            </a:extLst>
          </p:cNvPr>
          <p:cNvSpPr txBox="1"/>
          <p:nvPr/>
        </p:nvSpPr>
        <p:spPr>
          <a:xfrm>
            <a:off x="481779" y="4293919"/>
            <a:ext cx="112284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ONNX FP32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 with dynamic batching was selected as the </a:t>
            </a:r>
            <a:r>
              <a:rPr lang="en-US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optimal deployment configuration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achieving a high inference throughput of </a:t>
            </a:r>
            <a:r>
              <a:rPr lang="en-US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131 FPS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This format perfectly balances real-time edge processing speed with a reliable violation detection accuracy of </a:t>
            </a:r>
            <a:r>
              <a:rPr lang="en-US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0.671 mAP@0.5.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25A2C-9031-EA0A-A3F2-FBE2889C0784}"/>
              </a:ext>
            </a:extLst>
          </p:cNvPr>
          <p:cNvSpPr txBox="1"/>
          <p:nvPr/>
        </p:nvSpPr>
        <p:spPr>
          <a:xfrm>
            <a:off x="8128983" y="3941624"/>
            <a:ext cx="3581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Table: ONNX Quantization Results</a:t>
            </a:r>
            <a:endParaRPr lang="en-US" sz="14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C4A15-4D77-5189-B5FC-97F5E077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6055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14E2-D8AD-F15E-8C01-8B803F97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82F7DE-A37A-6596-E550-FC2110677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209743"/>
              </p:ext>
            </p:extLst>
          </p:nvPr>
        </p:nvGraphicFramePr>
        <p:xfrm>
          <a:off x="336754" y="1857173"/>
          <a:ext cx="5759246" cy="3995480"/>
        </p:xfrm>
        <a:graphic>
          <a:graphicData uri="http://schemas.openxmlformats.org/drawingml/2006/table">
            <a:tbl>
              <a:tblPr/>
              <a:tblGrid>
                <a:gridCol w="1754398">
                  <a:extLst>
                    <a:ext uri="{9D8B030D-6E8A-4147-A177-3AD203B41FA5}">
                      <a16:colId xmlns:a16="http://schemas.microsoft.com/office/drawing/2014/main" val="3790797391"/>
                    </a:ext>
                  </a:extLst>
                </a:gridCol>
                <a:gridCol w="1851583">
                  <a:extLst>
                    <a:ext uri="{9D8B030D-6E8A-4147-A177-3AD203B41FA5}">
                      <a16:colId xmlns:a16="http://schemas.microsoft.com/office/drawing/2014/main" val="3455167170"/>
                    </a:ext>
                  </a:extLst>
                </a:gridCol>
                <a:gridCol w="2153265">
                  <a:extLst>
                    <a:ext uri="{9D8B030D-6E8A-4147-A177-3AD203B41FA5}">
                      <a16:colId xmlns:a16="http://schemas.microsoft.com/office/drawing/2014/main" val="1737012870"/>
                    </a:ext>
                  </a:extLst>
                </a:gridCol>
              </a:tblGrid>
              <a:tr h="9217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Optimization Target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Baseline State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Edge-Optimized Result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91641"/>
                  </a:ext>
                </a:extLst>
              </a:tr>
              <a:tr h="17733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Alert Reliability 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(baseline_yolo26n ONNX FP32)</a:t>
                      </a:r>
                      <a:endParaRPr lang="en-US" sz="1600" b="1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124 alerts 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(No temporal filter)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alerts 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(N = 5 frames)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96"/>
                  </a:ext>
                </a:extLst>
              </a:tr>
              <a:tr h="13003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Network Efficiency</a:t>
                      </a: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1.897 GB/</a:t>
                      </a: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hr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(Raw video)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1.35 MB/</a:t>
                      </a: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hr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6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(Logs + Snapshots)*</a:t>
                      </a:r>
                      <a:endParaRPr lang="en-US" sz="1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0282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6A8B72-0C23-B5BB-7D0C-C9D92BA42FE6}"/>
              </a:ext>
            </a:extLst>
          </p:cNvPr>
          <p:cNvSpPr txBox="1"/>
          <p:nvPr/>
        </p:nvSpPr>
        <p:spPr>
          <a:xfrm>
            <a:off x="6581467" y="2812821"/>
            <a:ext cx="5223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Implementing a </a:t>
            </a:r>
            <a:r>
              <a:rPr lang="en-US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5-frame temporal smoothing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algorithm significantly improved alert reliability by reducing transient false alarms by </a:t>
            </a:r>
            <a:r>
              <a:rPr lang="en-US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94.6%. </a:t>
            </a:r>
          </a:p>
        </p:txBody>
      </p:sp>
      <p:pic>
        <p:nvPicPr>
          <p:cNvPr id="9" name="Graphic 8" descr="Caret Right with solid fill">
            <a:extLst>
              <a:ext uri="{FF2B5EF4-FFF2-40B4-BE49-F238E27FC236}">
                <a16:creationId xmlns:a16="http://schemas.microsoft.com/office/drawing/2014/main" id="{D5E7E49B-D485-6AA0-F3E3-4D0F42087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0524" y="2812821"/>
            <a:ext cx="530943" cy="530943"/>
          </a:xfrm>
          <a:prstGeom prst="rect">
            <a:avLst/>
          </a:prstGeom>
        </p:spPr>
      </p:pic>
      <p:pic>
        <p:nvPicPr>
          <p:cNvPr id="10" name="Graphic 9" descr="Caret Right with solid fill">
            <a:extLst>
              <a:ext uri="{FF2B5EF4-FFF2-40B4-BE49-F238E27FC236}">
                <a16:creationId xmlns:a16="http://schemas.microsoft.com/office/drawing/2014/main" id="{517DED81-A61D-EE61-1150-9FF753112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0523" y="4554758"/>
            <a:ext cx="530943" cy="5309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D2D7A9-D65A-1A7F-91B3-3B4001A67B4C}"/>
              </a:ext>
            </a:extLst>
          </p:cNvPr>
          <p:cNvSpPr txBox="1"/>
          <p:nvPr/>
        </p:nvSpPr>
        <p:spPr>
          <a:xfrm>
            <a:off x="6581466" y="4579064"/>
            <a:ext cx="52233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Transmitting </a:t>
            </a:r>
            <a:r>
              <a:rPr lang="en-US" sz="1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event logs and snapshots 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rather than raw video slashed bandwidth consumption by </a:t>
            </a:r>
            <a:r>
              <a:rPr lang="en-US" sz="1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99.93%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enabling stable operation over standard mobile networks.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DEC8D-A906-852D-491A-8467491E7766}"/>
              </a:ext>
            </a:extLst>
          </p:cNvPr>
          <p:cNvSpPr txBox="1"/>
          <p:nvPr/>
        </p:nvSpPr>
        <p:spPr>
          <a:xfrm>
            <a:off x="1425758" y="5877234"/>
            <a:ext cx="3581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Table: Edge Optimization Result</a:t>
            </a:r>
            <a:endParaRPr lang="en-US" sz="14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E53EC8-3FBF-3C98-F19B-19C070AC3738}"/>
              </a:ext>
            </a:extLst>
          </p:cNvPr>
          <p:cNvSpPr txBox="1"/>
          <p:nvPr/>
        </p:nvSpPr>
        <p:spPr>
          <a:xfrm>
            <a:off x="0" y="651737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i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*Note: </a:t>
            </a:r>
            <a:r>
              <a:rPr lang="en-US" sz="1400" b="0" i="1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efficiency assumes 1 event/min.</a:t>
            </a:r>
            <a:endParaRPr lang="en-US" sz="14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73A50E-BCB9-8E7A-860B-D170CF850FB7}"/>
              </a:ext>
            </a:extLst>
          </p:cNvPr>
          <p:cNvSpPr txBox="1"/>
          <p:nvPr/>
        </p:nvSpPr>
        <p:spPr>
          <a:xfrm>
            <a:off x="216280" y="1078607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Results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67357EC-D168-9241-6C4B-6E77EF39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5365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F4CB4-FF8F-1D1E-34AE-DD9ADFE8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905998E-79D6-CA93-AECE-D09D8A7DC3DE}"/>
              </a:ext>
            </a:extLst>
          </p:cNvPr>
          <p:cNvGrpSpPr/>
          <p:nvPr/>
        </p:nvGrpSpPr>
        <p:grpSpPr>
          <a:xfrm>
            <a:off x="964998" y="2106860"/>
            <a:ext cx="10262003" cy="3888843"/>
            <a:chOff x="1197155" y="2042303"/>
            <a:chExt cx="10262003" cy="3888843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15F2512-F026-9E98-7C5E-5EB4977A94AE}"/>
                </a:ext>
              </a:extLst>
            </p:cNvPr>
            <p:cNvGrpSpPr/>
            <p:nvPr/>
          </p:nvGrpSpPr>
          <p:grpSpPr>
            <a:xfrm>
              <a:off x="1197155" y="2042303"/>
              <a:ext cx="2900518" cy="3881135"/>
              <a:chOff x="1069335" y="2042303"/>
              <a:chExt cx="2900518" cy="388113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FDBF324B-120E-C7EC-3B8D-F4664A2675EB}"/>
                  </a:ext>
                </a:extLst>
              </p:cNvPr>
              <p:cNvGrpSpPr/>
              <p:nvPr/>
            </p:nvGrpSpPr>
            <p:grpSpPr>
              <a:xfrm>
                <a:off x="1069336" y="2042303"/>
                <a:ext cx="2900517" cy="3881135"/>
                <a:chOff x="3999434" y="1898258"/>
                <a:chExt cx="2900517" cy="3881135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D41D36A5-6075-4F79-9EE0-81AFDF0BAAED}"/>
                    </a:ext>
                  </a:extLst>
                </p:cNvPr>
                <p:cNvGrpSpPr/>
                <p:nvPr/>
              </p:nvGrpSpPr>
              <p:grpSpPr>
                <a:xfrm>
                  <a:off x="3999434" y="1898258"/>
                  <a:ext cx="2900517" cy="3881135"/>
                  <a:chOff x="5014449" y="1990411"/>
                  <a:chExt cx="2526892" cy="3381193"/>
                </a:xfrm>
              </p:grpSpPr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0A881102-8BCE-6C04-45B7-964DB4A4B1E9}"/>
                      </a:ext>
                    </a:extLst>
                  </p:cNvPr>
                  <p:cNvSpPr/>
                  <p:nvPr/>
                </p:nvSpPr>
                <p:spPr>
                  <a:xfrm>
                    <a:off x="5014449" y="1990411"/>
                    <a:ext cx="2526892" cy="3291658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" name="Rectangle: Rounded Corners 22">
                    <a:extLst>
                      <a:ext uri="{FF2B5EF4-FFF2-40B4-BE49-F238E27FC236}">
                        <a16:creationId xmlns:a16="http://schemas.microsoft.com/office/drawing/2014/main" id="{7EE4EFC6-72DF-3C5D-2242-72397200D62E}"/>
                      </a:ext>
                    </a:extLst>
                  </p:cNvPr>
                  <p:cNvSpPr/>
                  <p:nvPr/>
                </p:nvSpPr>
                <p:spPr>
                  <a:xfrm>
                    <a:off x="5392991" y="2266976"/>
                    <a:ext cx="1769807" cy="6281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72BC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D6ABC75D-2A67-BA67-3586-04E9C05C7E16}"/>
                      </a:ext>
                    </a:extLst>
                  </p:cNvPr>
                  <p:cNvSpPr/>
                  <p:nvPr/>
                </p:nvSpPr>
                <p:spPr>
                  <a:xfrm>
                    <a:off x="5440064" y="2310249"/>
                    <a:ext cx="541569" cy="541569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: Rounded Corners 25">
                    <a:extLst>
                      <a:ext uri="{FF2B5EF4-FFF2-40B4-BE49-F238E27FC236}">
                        <a16:creationId xmlns:a16="http://schemas.microsoft.com/office/drawing/2014/main" id="{7B6B74CE-31A1-3587-5795-843D904637AC}"/>
                      </a:ext>
                    </a:extLst>
                  </p:cNvPr>
                  <p:cNvSpPr/>
                  <p:nvPr/>
                </p:nvSpPr>
                <p:spPr>
                  <a:xfrm>
                    <a:off x="5462554" y="5192534"/>
                    <a:ext cx="1630680" cy="1790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72BC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61E1748-C63A-01B5-310F-157ED46D4276}"/>
                    </a:ext>
                  </a:extLst>
                </p:cNvPr>
                <p:cNvSpPr txBox="1"/>
                <p:nvPr/>
              </p:nvSpPr>
              <p:spPr>
                <a:xfrm>
                  <a:off x="5163658" y="2253043"/>
                  <a:ext cx="1069994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600" b="1" i="0" spc="600" dirty="0">
                      <a:solidFill>
                        <a:schemeClr val="bg1"/>
                      </a:solidFill>
                      <a:effectLst/>
                      <a:latin typeface="Montserrat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01</a:t>
                  </a:r>
                  <a:endParaRPr lang="en-US" sz="3200" spc="600" dirty="0">
                    <a:solidFill>
                      <a:schemeClr val="bg1"/>
                    </a:solidFill>
                    <a:latin typeface="Montserrat" pitchFamily="2" charset="0"/>
                  </a:endParaRPr>
                </a:p>
              </p:txBody>
            </p:sp>
            <p:pic>
              <p:nvPicPr>
                <p:cNvPr id="36" name="Graphic 35" descr="Bar chart with solid fill">
                  <a:extLst>
                    <a:ext uri="{FF2B5EF4-FFF2-40B4-BE49-F238E27FC236}">
                      <a16:creationId xmlns:a16="http://schemas.microsoft.com/office/drawing/2014/main" id="{F9F4AC75-CB95-950F-F599-7DA6A5262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9839" y="2327245"/>
                  <a:ext cx="497926" cy="497926"/>
                </a:xfrm>
                <a:prstGeom prst="rect">
                  <a:avLst/>
                </a:prstGeom>
              </p:spPr>
            </p:pic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FC8CD9-ED6F-918E-201E-1DBF5ED9D68A}"/>
                  </a:ext>
                </a:extLst>
              </p:cNvPr>
              <p:cNvSpPr txBox="1"/>
              <p:nvPr/>
            </p:nvSpPr>
            <p:spPr>
              <a:xfrm>
                <a:off x="1177396" y="3606289"/>
                <a:ext cx="2526892" cy="1993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Violated classes: </a:t>
                </a: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 rtl="0">
                  <a:lnSpc>
                    <a:spcPct val="150000"/>
                  </a:lnSpc>
                  <a:buNone/>
                </a:pPr>
                <a:r>
                  <a:rPr lang="en-US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no_helmet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0" dirty="0">
                    <a:solidFill>
                      <a:srgbClr val="0172BB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0.871</a:t>
                </a: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 rtl="0">
                  <a:lnSpc>
                    <a:spcPct val="150000"/>
                  </a:lnSpc>
                  <a:buNone/>
                </a:pPr>
                <a:r>
                  <a:rPr lang="en-US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no_goggle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0" dirty="0">
                    <a:solidFill>
                      <a:srgbClr val="0172BB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0.877</a:t>
                </a: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 rtl="0">
                  <a:lnSpc>
                    <a:spcPct val="150000"/>
                  </a:lnSpc>
                  <a:buNone/>
                </a:pPr>
                <a:r>
                  <a:rPr lang="en-US" b="0" i="0" dirty="0" err="1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no_gloves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0" dirty="0">
                    <a:solidFill>
                      <a:srgbClr val="0172BB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0.810</a:t>
                </a: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algn="ctr" rtl="0">
                  <a:lnSpc>
                    <a:spcPct val="150000"/>
                  </a:lnSpc>
                  <a:buNone/>
                </a:pPr>
                <a:r>
                  <a:rPr lang="en-US" sz="1200" b="0" i="1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(yolo26n_base_onnx_f32 B=8)</a:t>
                </a:r>
                <a:endParaRPr lang="en-US" sz="12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73AC94-27E4-5D5F-866B-79FEB73EBBB8}"/>
                  </a:ext>
                </a:extLst>
              </p:cNvPr>
              <p:cNvSpPr txBox="1"/>
              <p:nvPr/>
            </p:nvSpPr>
            <p:spPr>
              <a:xfrm>
                <a:off x="1069335" y="3206179"/>
                <a:ext cx="290051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>
                  <a:buNone/>
                </a:pPr>
                <a:r>
                  <a:rPr lang="en-US" sz="2000" b="1" i="0" dirty="0">
                    <a:solidFill>
                      <a:srgbClr val="0072B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mAP@0.5</a:t>
                </a:r>
                <a:endParaRPr lang="en-US" sz="2000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A662253-22A1-4C50-1BDB-7AAE90570F75}"/>
                </a:ext>
              </a:extLst>
            </p:cNvPr>
            <p:cNvGrpSpPr/>
            <p:nvPr/>
          </p:nvGrpSpPr>
          <p:grpSpPr>
            <a:xfrm>
              <a:off x="4867307" y="2042303"/>
              <a:ext cx="2900518" cy="3881135"/>
              <a:chOff x="4699562" y="2042303"/>
              <a:chExt cx="2900518" cy="3881135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28C4E2C3-0EE8-C20F-CCD2-99F8547F2903}"/>
                  </a:ext>
                </a:extLst>
              </p:cNvPr>
              <p:cNvGrpSpPr/>
              <p:nvPr/>
            </p:nvGrpSpPr>
            <p:grpSpPr>
              <a:xfrm>
                <a:off x="4699563" y="2042303"/>
                <a:ext cx="2900517" cy="3881135"/>
                <a:chOff x="7433978" y="1930392"/>
                <a:chExt cx="2900517" cy="3881135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FE2A28D2-C32F-9C1F-3D0A-4FA6D5AA7D0F}"/>
                    </a:ext>
                  </a:extLst>
                </p:cNvPr>
                <p:cNvGrpSpPr/>
                <p:nvPr/>
              </p:nvGrpSpPr>
              <p:grpSpPr>
                <a:xfrm>
                  <a:off x="7433978" y="1930392"/>
                  <a:ext cx="2900517" cy="3881135"/>
                  <a:chOff x="5014449" y="1990411"/>
                  <a:chExt cx="2526892" cy="3381193"/>
                </a:xfrm>
              </p:grpSpPr>
              <p:sp>
                <p:nvSpPr>
                  <p:cNvPr id="47" name="Rectangle: Rounded Corners 46">
                    <a:extLst>
                      <a:ext uri="{FF2B5EF4-FFF2-40B4-BE49-F238E27FC236}">
                        <a16:creationId xmlns:a16="http://schemas.microsoft.com/office/drawing/2014/main" id="{D4DF9F61-7995-BAC7-D2DF-A9EF7DB0ED9F}"/>
                      </a:ext>
                    </a:extLst>
                  </p:cNvPr>
                  <p:cNvSpPr/>
                  <p:nvPr/>
                </p:nvSpPr>
                <p:spPr>
                  <a:xfrm>
                    <a:off x="5014449" y="1990411"/>
                    <a:ext cx="2526892" cy="3291658"/>
                  </a:xfrm>
                  <a:prstGeom prst="roundRect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Rectangle: Rounded Corners 47">
                    <a:extLst>
                      <a:ext uri="{FF2B5EF4-FFF2-40B4-BE49-F238E27FC236}">
                        <a16:creationId xmlns:a16="http://schemas.microsoft.com/office/drawing/2014/main" id="{84C548CA-70EF-7161-032D-17DB4BA205DD}"/>
                      </a:ext>
                    </a:extLst>
                  </p:cNvPr>
                  <p:cNvSpPr/>
                  <p:nvPr/>
                </p:nvSpPr>
                <p:spPr>
                  <a:xfrm>
                    <a:off x="5392991" y="2266976"/>
                    <a:ext cx="1769807" cy="62811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72BC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04D1A301-ECF4-08EF-3ACF-B2FC68F4B926}"/>
                      </a:ext>
                    </a:extLst>
                  </p:cNvPr>
                  <p:cNvSpPr/>
                  <p:nvPr/>
                </p:nvSpPr>
                <p:spPr>
                  <a:xfrm>
                    <a:off x="5440064" y="2310249"/>
                    <a:ext cx="541569" cy="541569"/>
                  </a:xfrm>
                  <a:prstGeom prst="ellipse">
                    <a:avLst/>
                  </a:prstGeom>
                  <a:solidFill>
                    <a:schemeClr val="bg1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61EB73D4-4BC9-FA6C-27E7-CCA5404A010E}"/>
                      </a:ext>
                    </a:extLst>
                  </p:cNvPr>
                  <p:cNvSpPr/>
                  <p:nvPr/>
                </p:nvSpPr>
                <p:spPr>
                  <a:xfrm>
                    <a:off x="5462554" y="5192534"/>
                    <a:ext cx="1630680" cy="1790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72BC"/>
                  </a:solidFill>
                  <a:ln w="28575">
                    <a:noFill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2DD9058-EC6C-9EF8-23F9-B7D71BA4DCDC}"/>
                    </a:ext>
                  </a:extLst>
                </p:cNvPr>
                <p:cNvSpPr txBox="1"/>
                <p:nvPr/>
              </p:nvSpPr>
              <p:spPr>
                <a:xfrm>
                  <a:off x="8598202" y="2285177"/>
                  <a:ext cx="1069994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600" b="1" i="0" spc="600" dirty="0">
                      <a:solidFill>
                        <a:schemeClr val="bg1"/>
                      </a:solidFill>
                      <a:effectLst/>
                      <a:latin typeface="Montserrat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02</a:t>
                  </a:r>
                  <a:endParaRPr lang="en-US" sz="3200" spc="600" dirty="0">
                    <a:solidFill>
                      <a:schemeClr val="bg1"/>
                    </a:solidFill>
                    <a:latin typeface="Montserrat" pitchFamily="2" charset="0"/>
                  </a:endParaRPr>
                </a:p>
              </p:txBody>
            </p:sp>
            <p:pic>
              <p:nvPicPr>
                <p:cNvPr id="52" name="Graphic 51" descr="Fast Forward with solid fill">
                  <a:extLst>
                    <a:ext uri="{FF2B5EF4-FFF2-40B4-BE49-F238E27FC236}">
                      <a16:creationId xmlns:a16="http://schemas.microsoft.com/office/drawing/2014/main" id="{42C7B26D-C66B-1FDA-8282-88FCBDEAB2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37185" y="2312180"/>
                  <a:ext cx="592324" cy="592324"/>
                </a:xfrm>
                <a:prstGeom prst="rect">
                  <a:avLst/>
                </a:prstGeom>
              </p:spPr>
            </p:pic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804A95E-14FA-1B77-9A42-B54DB6579DB3}"/>
                  </a:ext>
                </a:extLst>
              </p:cNvPr>
              <p:cNvSpPr txBox="1"/>
              <p:nvPr/>
            </p:nvSpPr>
            <p:spPr>
              <a:xfrm>
                <a:off x="4699562" y="3240125"/>
                <a:ext cx="29005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2B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Edge-Optimized</a:t>
                </a:r>
                <a:endParaRPr lang="en-US" dirty="0">
                  <a:solidFill>
                    <a:srgbClr val="0072B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42DFDD3-6886-79A2-C712-1D4FBE5C75CC}"/>
                  </a:ext>
                </a:extLst>
              </p:cNvPr>
              <p:cNvSpPr txBox="1"/>
              <p:nvPr/>
            </p:nvSpPr>
            <p:spPr>
              <a:xfrm>
                <a:off x="5213925" y="5021221"/>
                <a:ext cx="211450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Achieved </a:t>
                </a:r>
                <a:r>
                  <a:rPr lang="en-US" b="1" i="0" dirty="0">
                    <a:solidFill>
                      <a:srgbClr val="0172BB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131 FPS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rtl="0"/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Edge throughput</a:t>
                </a: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092FDCE-9D18-14F3-CFB8-253C33849ED8}"/>
                  </a:ext>
                </a:extLst>
              </p:cNvPr>
              <p:cNvSpPr txBox="1"/>
              <p:nvPr/>
            </p:nvSpPr>
            <p:spPr>
              <a:xfrm>
                <a:off x="5213925" y="3621273"/>
                <a:ext cx="22459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800" b="0" i="0" dirty="0">
                    <a:solidFill>
                      <a:srgbClr val="1F1F1F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Saved </a:t>
                </a:r>
                <a:r>
                  <a:rPr lang="en-US" sz="1800" b="1" i="0" dirty="0">
                    <a:solidFill>
                      <a:srgbClr val="0072B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99.93%</a:t>
                </a:r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rtl="0"/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Bandwidth </a:t>
                </a:r>
                <a:endParaRPr lang="en-US" sz="1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9E5AA39-BCB4-0B1D-0163-0CC39320DED2}"/>
                  </a:ext>
                </a:extLst>
              </p:cNvPr>
              <p:cNvSpPr txBox="1"/>
              <p:nvPr/>
            </p:nvSpPr>
            <p:spPr>
              <a:xfrm>
                <a:off x="5213926" y="4321247"/>
                <a:ext cx="211450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Reduced </a:t>
                </a:r>
                <a:r>
                  <a:rPr lang="en-US" sz="1800" b="1" i="0" dirty="0">
                    <a:solidFill>
                      <a:srgbClr val="0072B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94.6%</a:t>
                </a:r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b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False positives </a:t>
                </a:r>
                <a:endParaRPr lang="en-US" sz="1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F61E303-79EC-9DA8-8D61-E228439D8F5E}"/>
                  </a:ext>
                </a:extLst>
              </p:cNvPr>
              <p:cNvSpPr txBox="1"/>
              <p:nvPr/>
            </p:nvSpPr>
            <p:spPr>
              <a:xfrm>
                <a:off x="4886620" y="3621247"/>
                <a:ext cx="4279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800" b="1" i="0" dirty="0">
                    <a:solidFill>
                      <a:srgbClr val="0072B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&gt;</a:t>
                </a:r>
                <a:endParaRPr lang="en-US" sz="1800" b="1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7AA9B4C-6AC7-99D4-420D-4B345BCDD64F}"/>
                  </a:ext>
                </a:extLst>
              </p:cNvPr>
              <p:cNvSpPr txBox="1"/>
              <p:nvPr/>
            </p:nvSpPr>
            <p:spPr>
              <a:xfrm>
                <a:off x="4886620" y="4338748"/>
                <a:ext cx="4279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800" b="1" i="0" dirty="0">
                    <a:solidFill>
                      <a:srgbClr val="0072B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&gt;</a:t>
                </a:r>
                <a:endParaRPr lang="en-US" sz="1800" b="1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734D508-59C8-E2F9-0E24-D6A2790A8F0B}"/>
                  </a:ext>
                </a:extLst>
              </p:cNvPr>
              <p:cNvSpPr txBox="1"/>
              <p:nvPr/>
            </p:nvSpPr>
            <p:spPr>
              <a:xfrm>
                <a:off x="4886620" y="5044802"/>
                <a:ext cx="4279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800" b="1" i="0" dirty="0">
                    <a:solidFill>
                      <a:srgbClr val="0072BC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&gt;</a:t>
                </a:r>
                <a:endParaRPr lang="en-US" sz="1800" b="1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F404677-6960-3B3A-1673-925683920DA4}"/>
                </a:ext>
              </a:extLst>
            </p:cNvPr>
            <p:cNvGrpSpPr/>
            <p:nvPr/>
          </p:nvGrpSpPr>
          <p:grpSpPr>
            <a:xfrm>
              <a:off x="8537458" y="2050011"/>
              <a:ext cx="2921700" cy="3881135"/>
              <a:chOff x="8508180" y="2050011"/>
              <a:chExt cx="2921700" cy="3881135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AA1161A7-6C6F-5702-8B85-207E3B8E8CB4}"/>
                  </a:ext>
                </a:extLst>
              </p:cNvPr>
              <p:cNvGrpSpPr/>
              <p:nvPr/>
            </p:nvGrpSpPr>
            <p:grpSpPr>
              <a:xfrm>
                <a:off x="8508181" y="2050011"/>
                <a:ext cx="2900517" cy="3881135"/>
                <a:chOff x="8656663" y="2608342"/>
                <a:chExt cx="2900517" cy="3881135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99E7DB98-FD55-5CAB-2475-E3F24E96D1C2}"/>
                    </a:ext>
                  </a:extLst>
                </p:cNvPr>
                <p:cNvGrpSpPr/>
                <p:nvPr/>
              </p:nvGrpSpPr>
              <p:grpSpPr>
                <a:xfrm>
                  <a:off x="8656663" y="2608342"/>
                  <a:ext cx="2900517" cy="3881135"/>
                  <a:chOff x="7433979" y="1930392"/>
                  <a:chExt cx="2900517" cy="3881135"/>
                </a:xfrm>
              </p:grpSpPr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F3EAC387-C422-AB6D-742E-68B46CD245D8}"/>
                      </a:ext>
                    </a:extLst>
                  </p:cNvPr>
                  <p:cNvGrpSpPr/>
                  <p:nvPr/>
                </p:nvGrpSpPr>
                <p:grpSpPr>
                  <a:xfrm>
                    <a:off x="7433979" y="1930392"/>
                    <a:ext cx="2900517" cy="3881135"/>
                    <a:chOff x="5014450" y="1990411"/>
                    <a:chExt cx="2526892" cy="3381193"/>
                  </a:xfrm>
                </p:grpSpPr>
                <p:sp>
                  <p:nvSpPr>
                    <p:cNvPr id="58" name="Rectangle: Rounded Corners 57">
                      <a:extLst>
                        <a:ext uri="{FF2B5EF4-FFF2-40B4-BE49-F238E27FC236}">
                          <a16:creationId xmlns:a16="http://schemas.microsoft.com/office/drawing/2014/main" id="{58183960-6993-08FC-AFEB-8BA1EC7A1C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14450" y="1990411"/>
                      <a:ext cx="2526892" cy="3291658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  <a:ln w="28575"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59" name="Rectangle: Rounded Corners 58">
                      <a:extLst>
                        <a:ext uri="{FF2B5EF4-FFF2-40B4-BE49-F238E27FC236}">
                          <a16:creationId xmlns:a16="http://schemas.microsoft.com/office/drawing/2014/main" id="{6361B892-9B03-AF6B-CD1C-9420C98E25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2991" y="2266976"/>
                      <a:ext cx="1769807" cy="62811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72BC"/>
                    </a:solidFill>
                    <a:ln w="28575"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0" name="Oval 59">
                      <a:extLst>
                        <a:ext uri="{FF2B5EF4-FFF2-40B4-BE49-F238E27FC236}">
                          <a16:creationId xmlns:a16="http://schemas.microsoft.com/office/drawing/2014/main" id="{786BE0F6-9BCB-C574-A8EF-3CFEFA63D2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40064" y="2310249"/>
                      <a:ext cx="541569" cy="541569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28575"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1" name="Rectangle: Rounded Corners 60">
                      <a:extLst>
                        <a:ext uri="{FF2B5EF4-FFF2-40B4-BE49-F238E27FC236}">
                          <a16:creationId xmlns:a16="http://schemas.microsoft.com/office/drawing/2014/main" id="{BD3C109D-B29E-BEB5-5121-943C8E815A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62554" y="5192534"/>
                      <a:ext cx="1630680" cy="17907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0072BC"/>
                    </a:solidFill>
                    <a:ln w="28575"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40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B1AD8EEE-55AC-73FE-B7ED-12D75EFF66A2}"/>
                      </a:ext>
                    </a:extLst>
                  </p:cNvPr>
                  <p:cNvSpPr txBox="1"/>
                  <p:nvPr/>
                </p:nvSpPr>
                <p:spPr>
                  <a:xfrm>
                    <a:off x="8598202" y="2285177"/>
                    <a:ext cx="1069994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3600" b="1" i="0" spc="600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03</a:t>
                    </a:r>
                    <a:endParaRPr lang="en-US" sz="3200" spc="600" dirty="0">
                      <a:solidFill>
                        <a:schemeClr val="bg1"/>
                      </a:solidFill>
                      <a:latin typeface="Montserrat" pitchFamily="2" charset="0"/>
                    </a:endParaRPr>
                  </a:p>
                </p:txBody>
              </p:sp>
            </p:grpSp>
            <p:pic>
              <p:nvPicPr>
                <p:cNvPr id="63" name="Graphic 62" descr="Gears with solid fill">
                  <a:extLst>
                    <a:ext uri="{FF2B5EF4-FFF2-40B4-BE49-F238E27FC236}">
                      <a16:creationId xmlns:a16="http://schemas.microsoft.com/office/drawing/2014/main" id="{F3183976-022C-E874-5AAA-1F12C476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71024" y="3004283"/>
                  <a:ext cx="564018" cy="564018"/>
                </a:xfrm>
                <a:prstGeom prst="rect">
                  <a:avLst/>
                </a:prstGeom>
              </p:spPr>
            </p:pic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35C5105-2F18-CAE6-97C1-A1259AC0CEB3}"/>
                  </a:ext>
                </a:extLst>
              </p:cNvPr>
              <p:cNvSpPr txBox="1"/>
              <p:nvPr/>
            </p:nvSpPr>
            <p:spPr>
              <a:xfrm>
                <a:off x="8508180" y="3236957"/>
                <a:ext cx="29005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72B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E-2-E Pipeline</a:t>
                </a:r>
                <a:endParaRPr lang="en-US" dirty="0">
                  <a:solidFill>
                    <a:srgbClr val="0072B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D354676-92CC-2A10-3F85-64A7AE8BC0B2}"/>
                  </a:ext>
                </a:extLst>
              </p:cNvPr>
              <p:cNvSpPr txBox="1"/>
              <p:nvPr/>
            </p:nvSpPr>
            <p:spPr>
              <a:xfrm>
                <a:off x="8643373" y="3686265"/>
                <a:ext cx="26301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/>
                <a:r>
                  <a:rPr lang="en-US" b="1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Context-Aware Logic </a:t>
                </a:r>
              </a:p>
              <a:p>
                <a:pPr algn="ctr" rtl="0"/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Worker </a:t>
                </a:r>
                <a:r>
                  <a:rPr lang="en-US" dirty="0">
                    <a:solidFill>
                      <a:srgbClr val="0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&amp;</a:t>
                </a:r>
                <a:r>
                  <a:rPr lang="en-US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PPE status</a:t>
                </a: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554424-392A-88BE-BC7C-4F27E500FAC6}"/>
                  </a:ext>
                </a:extLst>
              </p:cNvPr>
              <p:cNvSpPr txBox="1"/>
              <p:nvPr/>
            </p:nvSpPr>
            <p:spPr>
              <a:xfrm>
                <a:off x="8529361" y="4444637"/>
                <a:ext cx="290051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/>
                <a:r>
                  <a:rPr lang="en-US" sz="1800" b="1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Live Dashboard</a:t>
                </a:r>
              </a:p>
              <a:p>
                <a:pPr algn="ctr" rtl="0"/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Real-time telemetry, </a:t>
                </a:r>
              </a:p>
              <a:p>
                <a:pPr algn="ctr" rtl="0"/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snapshot logs, </a:t>
                </a:r>
              </a:p>
              <a:p>
                <a:pPr algn="ctr" rtl="0"/>
                <a:r>
                  <a:rPr lang="en-US" sz="1800" b="0" i="0" dirty="0">
                    <a:solidFill>
                      <a:srgbClr val="000000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and zone mapping.</a:t>
                </a:r>
                <a:endParaRPr lang="en-US" sz="18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848D925-2655-AFAF-C2C7-B70CAC756B92}"/>
              </a:ext>
            </a:extLst>
          </p:cNvPr>
          <p:cNvSpPr txBox="1"/>
          <p:nvPr/>
        </p:nvSpPr>
        <p:spPr>
          <a:xfrm>
            <a:off x="2250415" y="1422987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results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B3A79-84F5-6C3D-BF8A-3ED19670B0C7}"/>
              </a:ext>
            </a:extLst>
          </p:cNvPr>
          <p:cNvSpPr txBox="1"/>
          <p:nvPr/>
        </p:nvSpPr>
        <p:spPr>
          <a:xfrm>
            <a:off x="0" y="6530743"/>
            <a:ext cx="3581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*E-2-E: End-to-end</a:t>
            </a:r>
            <a:endParaRPr lang="en-US" sz="14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2270A-B96D-4EC8-2947-EEB07C6A5C3F}"/>
              </a:ext>
            </a:extLst>
          </p:cNvPr>
          <p:cNvSpPr txBox="1"/>
          <p:nvPr/>
        </p:nvSpPr>
        <p:spPr>
          <a:xfrm>
            <a:off x="216280" y="1078607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 Results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FEBFBD-7EF4-4F37-8E5A-FBB8D6A5E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119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1837C-C37E-F983-AC53-918844D7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09352-AFAE-293F-CC2E-DF6C6B321BA5}"/>
              </a:ext>
            </a:extLst>
          </p:cNvPr>
          <p:cNvSpPr txBox="1"/>
          <p:nvPr/>
        </p:nvSpPr>
        <p:spPr>
          <a:xfrm>
            <a:off x="216280" y="1078607"/>
            <a:ext cx="79127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1886C5-0CF6-691E-8C74-959734B839FF}"/>
              </a:ext>
            </a:extLst>
          </p:cNvPr>
          <p:cNvSpPr txBox="1"/>
          <p:nvPr/>
        </p:nvSpPr>
        <p:spPr>
          <a:xfrm>
            <a:off x="747251" y="1779833"/>
            <a:ext cx="64794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/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Successfully deployed an Edge AI pipeline for real-time PPE monitoring, eliminating cloud-related latency, bandwidth, and privacy issues. </a:t>
            </a:r>
          </a:p>
          <a:p>
            <a:pPr algn="just" rtl="0"/>
            <a:endParaRPr lang="en-US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rtl="0"/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optimized baseline_yolo26n model (ONNX FP32) achieves 131 FPS at 2.93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ms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/frame, enabling concurrent multi-camera processing. </a:t>
            </a:r>
            <a:endParaRPr lang="en-US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rtl="0"/>
            <a:endParaRPr lang="en-US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rtl="0"/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5-frame temporal smoothing algorithm reduces false alarms by 94.6%. The edge-first architecture reduces bandwidth consumption by 99.93% (1.35 MB/hour). </a:t>
            </a:r>
          </a:p>
          <a:p>
            <a:pPr algn="just" rtl="0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 rtl="0"/>
            <a:r>
              <a:rPr lang="en-US" b="1" i="1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Future Works: 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no_boots</a:t>
            </a:r>
            <a:r>
              <a:rPr lang="en-US" b="0" i="0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detection, integrate BIM for dynamic safety zones, and apply multi-modal sensor fusion for poor weather conditions. </a:t>
            </a:r>
            <a:endParaRPr lang="en-US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Graphic 8" descr="Caret Right with solid fill">
            <a:extLst>
              <a:ext uri="{FF2B5EF4-FFF2-40B4-BE49-F238E27FC236}">
                <a16:creationId xmlns:a16="http://schemas.microsoft.com/office/drawing/2014/main" id="{87AA8DF8-FBB0-E66B-AC5D-54328C1E9E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941" y="1779833"/>
            <a:ext cx="530943" cy="530943"/>
          </a:xfrm>
          <a:prstGeom prst="rect">
            <a:avLst/>
          </a:prstGeom>
        </p:spPr>
      </p:pic>
      <p:pic>
        <p:nvPicPr>
          <p:cNvPr id="10" name="Graphic 9" descr="Caret Right with solid fill">
            <a:extLst>
              <a:ext uri="{FF2B5EF4-FFF2-40B4-BE49-F238E27FC236}">
                <a16:creationId xmlns:a16="http://schemas.microsoft.com/office/drawing/2014/main" id="{B19F8D90-8DF5-F13B-8AAB-0757B869C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941" y="2898057"/>
            <a:ext cx="530943" cy="530943"/>
          </a:xfrm>
          <a:prstGeom prst="rect">
            <a:avLst/>
          </a:prstGeom>
        </p:spPr>
      </p:pic>
      <p:pic>
        <p:nvPicPr>
          <p:cNvPr id="11" name="Graphic 10" descr="Caret Right with solid fill">
            <a:extLst>
              <a:ext uri="{FF2B5EF4-FFF2-40B4-BE49-F238E27FC236}">
                <a16:creationId xmlns:a16="http://schemas.microsoft.com/office/drawing/2014/main" id="{98194CA5-4E4F-FE3B-07CA-AFC26CBFB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941" y="4016281"/>
            <a:ext cx="530943" cy="530943"/>
          </a:xfrm>
          <a:prstGeom prst="rect">
            <a:avLst/>
          </a:prstGeom>
        </p:spPr>
      </p:pic>
      <p:pic>
        <p:nvPicPr>
          <p:cNvPr id="12" name="Graphic 11" descr="Caret Right with solid fill">
            <a:extLst>
              <a:ext uri="{FF2B5EF4-FFF2-40B4-BE49-F238E27FC236}">
                <a16:creationId xmlns:a16="http://schemas.microsoft.com/office/drawing/2014/main" id="{15DCD460-D61F-CA48-29F8-729B778BA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4941" y="5134505"/>
            <a:ext cx="530943" cy="530943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536FF66-77D9-6A99-F257-74CE69F2D6E9}"/>
              </a:ext>
            </a:extLst>
          </p:cNvPr>
          <p:cNvGrpSpPr/>
          <p:nvPr/>
        </p:nvGrpSpPr>
        <p:grpSpPr>
          <a:xfrm>
            <a:off x="7773116" y="1606547"/>
            <a:ext cx="3671633" cy="4440930"/>
            <a:chOff x="7769714" y="1224518"/>
            <a:chExt cx="3671633" cy="444093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782A176-C8C9-111A-C3E7-1B8E0320C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2" r="46047"/>
            <a:stretch>
              <a:fillRect/>
            </a:stretch>
          </p:blipFill>
          <p:spPr bwMode="auto">
            <a:xfrm>
              <a:off x="7769714" y="1224518"/>
              <a:ext cx="3671632" cy="417545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EB91CA-9231-CE41-0174-FED16E800169}"/>
                </a:ext>
              </a:extLst>
            </p:cNvPr>
            <p:cNvSpPr/>
            <p:nvPr/>
          </p:nvSpPr>
          <p:spPr>
            <a:xfrm>
              <a:off x="7769714" y="5296116"/>
              <a:ext cx="3671633" cy="369332"/>
            </a:xfrm>
            <a:prstGeom prst="rect">
              <a:avLst/>
            </a:prstGeom>
            <a:solidFill>
              <a:srgbClr val="0072BC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CONSTRUCTION SITE SAFETY</a:t>
              </a:r>
            </a:p>
          </p:txBody>
        </p:sp>
      </p:grp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7A05AE90-DB31-A216-27CD-FC8ED128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7628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A5EA-473C-9109-360E-0D52362C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BD7869E-5546-DE95-D4DA-04FAA47C5630}"/>
              </a:ext>
            </a:extLst>
          </p:cNvPr>
          <p:cNvSpPr txBox="1"/>
          <p:nvPr/>
        </p:nvSpPr>
        <p:spPr>
          <a:xfrm>
            <a:off x="1330542" y="2921168"/>
            <a:ext cx="95309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8. </a:t>
            </a:r>
            <a:r>
              <a:rPr lang="en-US" sz="6000" b="1" dirty="0">
                <a:solidFill>
                  <a:srgbClr val="0072B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APPLICATION DEMO</a:t>
            </a:r>
            <a:endParaRPr lang="en-US" sz="6000" b="1" i="0" u="none" strike="noStrike" dirty="0">
              <a:solidFill>
                <a:srgbClr val="0072BC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84A5B-CD9B-E8FE-B006-2DDF6EE3A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7097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0A0E8-3275-8FF3-42D8-2F33817F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8912CCF-8113-44C8-E6BC-DF820ACCEDDD}"/>
              </a:ext>
            </a:extLst>
          </p:cNvPr>
          <p:cNvGrpSpPr/>
          <p:nvPr/>
        </p:nvGrpSpPr>
        <p:grpSpPr>
          <a:xfrm>
            <a:off x="2658830" y="1543868"/>
            <a:ext cx="6186085" cy="3770263"/>
            <a:chOff x="3038168" y="1288229"/>
            <a:chExt cx="6186085" cy="377026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3562B9E-DE6C-0335-F490-82EE1C6206FD}"/>
                </a:ext>
              </a:extLst>
            </p:cNvPr>
            <p:cNvGrpSpPr/>
            <p:nvPr/>
          </p:nvGrpSpPr>
          <p:grpSpPr>
            <a:xfrm>
              <a:off x="3038168" y="2187610"/>
              <a:ext cx="4788310" cy="2346531"/>
              <a:chOff x="3038168" y="2187610"/>
              <a:chExt cx="4788310" cy="234653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266B6E-2A55-15EC-E471-816143DCA8A7}"/>
                  </a:ext>
                </a:extLst>
              </p:cNvPr>
              <p:cNvSpPr txBox="1"/>
              <p:nvPr/>
            </p:nvSpPr>
            <p:spPr>
              <a:xfrm>
                <a:off x="3038168" y="2187610"/>
                <a:ext cx="4475271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0">
                  <a:buNone/>
                </a:pPr>
                <a:r>
                  <a:rPr lang="en-US" sz="4400" dirty="0">
                    <a:solidFill>
                      <a:srgbClr val="0072B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THANK YOU FOR LISTENING!</a:t>
                </a:r>
                <a:endParaRPr lang="en-US" sz="4400" i="0" u="none" strike="noStrike" dirty="0">
                  <a:solidFill>
                    <a:srgbClr val="0072B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546900-A4B1-DE7B-DD78-C6A348DE51D2}"/>
                  </a:ext>
                </a:extLst>
              </p:cNvPr>
              <p:cNvSpPr txBox="1"/>
              <p:nvPr/>
            </p:nvSpPr>
            <p:spPr>
              <a:xfrm>
                <a:off x="5253613" y="3518478"/>
                <a:ext cx="257286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>
                  <a:buNone/>
                </a:pPr>
                <a:r>
                  <a:rPr lang="en-US" sz="6000" b="1" dirty="0">
                    <a:solidFill>
                      <a:srgbClr val="0072B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</a:t>
                </a:r>
                <a:r>
                  <a:rPr lang="en-US" sz="3600" b="1" dirty="0">
                    <a:solidFill>
                      <a:srgbClr val="0072BC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&amp;</a:t>
                </a:r>
                <a:r>
                  <a:rPr lang="en-US" sz="60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endParaRPr lang="en-US" sz="6000" b="1" i="0" u="none" strike="noStrike" dirty="0">
                  <a:solidFill>
                    <a:srgbClr val="C0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2C41333-02B0-EDF3-286A-61CF94FC3DB5}"/>
                </a:ext>
              </a:extLst>
            </p:cNvPr>
            <p:cNvSpPr txBox="1"/>
            <p:nvPr/>
          </p:nvSpPr>
          <p:spPr>
            <a:xfrm>
              <a:off x="7297130" y="1288229"/>
              <a:ext cx="1927123" cy="37702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n-US" sz="23900" b="1" dirty="0">
                  <a:solidFill>
                    <a:srgbClr val="0072BC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?</a:t>
              </a:r>
              <a:endParaRPr lang="en-US" sz="23900" b="1" i="0" u="none" strike="noStrike" dirty="0">
                <a:solidFill>
                  <a:srgbClr val="0072BC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ED866A9-13B9-F989-58B1-0500B206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79DD-EC56-4EEA-9CB1-49CD033D5D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8184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2455</TotalTime>
  <Words>794</Words>
  <Application>Microsoft Office PowerPoint</Application>
  <PresentationFormat>Widescreen</PresentationFormat>
  <Paragraphs>183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Tahoma</vt:lpstr>
      <vt:lpstr>Montserrat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84358584147</dc:creator>
  <cp:lastModifiedBy>Ridozi Kishito</cp:lastModifiedBy>
  <cp:revision>20</cp:revision>
  <dcterms:created xsi:type="dcterms:W3CDTF">2026-06-17T08:03:52Z</dcterms:created>
  <dcterms:modified xsi:type="dcterms:W3CDTF">2026-07-18T04:19:05Z</dcterms:modified>
</cp:coreProperties>
</file>